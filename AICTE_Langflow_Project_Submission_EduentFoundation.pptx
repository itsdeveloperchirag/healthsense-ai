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83" r:id="rId2"/>
    <p:sldId id="257" r:id="rId3"/>
    <p:sldId id="282" r:id="rId4"/>
    <p:sldId id="285" r:id="rId5"/>
    <p:sldId id="278" r:id="rId6"/>
    <p:sldId id="293" r:id="rId7"/>
    <p:sldId id="279" r:id="rId8"/>
    <p:sldId id="294" r:id="rId9"/>
    <p:sldId id="295" r:id="rId10"/>
    <p:sldId id="296" r:id="rId11"/>
    <p:sldId id="297" r:id="rId12"/>
    <p:sldId id="298" r:id="rId13"/>
    <p:sldId id="299" r:id="rId14"/>
    <p:sldId id="300" r:id="rId15"/>
    <p:sldId id="301" r:id="rId16"/>
    <p:sldId id="302" r:id="rId17"/>
    <p:sldId id="303" r:id="rId18"/>
    <p:sldId id="304" r:id="rId19"/>
    <p:sldId id="305" r:id="rId20"/>
    <p:sldId id="280" r:id="rId21"/>
    <p:sldId id="288" r:id="rId22"/>
    <p:sldId id="289" r:id="rId23"/>
    <p:sldId id="276"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B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64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04153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98368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94393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2242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3592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0978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2244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3898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4412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5841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5456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12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12723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github.com/ItsDeveloperChirag/HealthSense-AI" TargetMode="Externa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7866542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648345">
                  <a:extLst>
                    <a:ext uri="{9D8B030D-6E8A-4147-A177-3AD203B41FA5}">
                      <a16:colId xmlns:a16="http://schemas.microsoft.com/office/drawing/2014/main" val="20003"/>
                    </a:ext>
                  </a:extLst>
                </a:gridCol>
                <a:gridCol w="2238403">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dirty="0"/>
                        <a:t>CHIRAG</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Chiragrajesh392@gmail.com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9717498724</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pPr algn="ctr"/>
            <a:r>
              <a:rPr lang="en-US" sz="2400" b="1" dirty="0"/>
              <a:t>AI agent for chronic disease monitoring</a:t>
            </a:r>
            <a:endParaRPr lang="en-IN" sz="2400" b="1" dirty="0">
              <a:highlight>
                <a:srgbClr val="FFFF00"/>
              </a:highlight>
            </a:endParaRPr>
          </a:p>
        </p:txBody>
      </p:sp>
      <p:pic>
        <p:nvPicPr>
          <p:cNvPr id="5" name="Picture 4">
            <a:extLst>
              <a:ext uri="{FF2B5EF4-FFF2-40B4-BE49-F238E27FC236}">
                <a16:creationId xmlns:a16="http://schemas.microsoft.com/office/drawing/2014/main" id="{5FAAA28C-FCBE-0251-998F-02698E2DE079}"/>
              </a:ext>
            </a:extLst>
          </p:cNvPr>
          <p:cNvPicPr>
            <a:picLocks noChangeAspect="1"/>
          </p:cNvPicPr>
          <p:nvPr/>
        </p:nvPicPr>
        <p:blipFill>
          <a:blip r:embed="rId3"/>
          <a:srcRect t="16393"/>
          <a:stretch/>
        </p:blipFill>
        <p:spPr>
          <a:xfrm>
            <a:off x="4009304" y="3638746"/>
            <a:ext cx="1012503" cy="11286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2062103"/>
          </a:xfrm>
          <a:prstGeom prst="rect">
            <a:avLst/>
          </a:prstGeom>
          <a:noFill/>
        </p:spPr>
        <p:txBody>
          <a:bodyPr wrap="square" rtlCol="0">
            <a:spAutoFit/>
          </a:bodyPr>
          <a:lstStyle/>
          <a:p>
            <a:pPr algn="just" fontAlgn="base"/>
            <a:r>
              <a:rPr lang="en-US" sz="1600" b="1" dirty="0"/>
              <a:t>Problem Statement : Chronic disease monitoring</a:t>
            </a:r>
            <a:r>
              <a:rPr lang="en-US" sz="1600" dirty="0"/>
              <a:t> </a:t>
            </a:r>
          </a:p>
          <a:p>
            <a:pPr algn="just" fontAlgn="base"/>
            <a:endParaRPr lang="en-US" sz="1600" b="1" dirty="0"/>
          </a:p>
          <a:p>
            <a:pPr algn="just" fontAlgn="base"/>
            <a:r>
              <a:rPr lang="en-US" sz="1600" dirty="0"/>
              <a:t>Healthcare systems often require multiple manual steps for disease identification, medical report interpretation, finding the right specialist, and booking appointments. This process can be time-consuming and confusing for patients, leading to delays in receiving appropriate medical guidance. There is a need for an integrated AI-powered platform that provides quick preliminary health assessments and simplifies access to healthcare services.</a:t>
            </a:r>
          </a:p>
          <a:p>
            <a:pPr algn="just" fontAlgn="base"/>
            <a:endParaRPr lang="en-US" sz="1600" dirty="0"/>
          </a:p>
          <a:p>
            <a:pPr algn="just"/>
            <a:endParaRPr lang="en-IN"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pic>
        <p:nvPicPr>
          <p:cNvPr id="4" name="Picture 2">
            <a:extLst>
              <a:ext uri="{FF2B5EF4-FFF2-40B4-BE49-F238E27FC236}">
                <a16:creationId xmlns:a16="http://schemas.microsoft.com/office/drawing/2014/main" id="{E64D04FF-BD9D-1E7F-5158-6985F2696F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1370"/>
          <a:stretch/>
        </p:blipFill>
        <p:spPr bwMode="auto">
          <a:xfrm>
            <a:off x="456170" y="2811860"/>
            <a:ext cx="10766036" cy="3041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1" y="1234440"/>
            <a:ext cx="10811507" cy="2062103"/>
          </a:xfrm>
          <a:prstGeom prst="rect">
            <a:avLst/>
          </a:prstGeom>
          <a:noFill/>
        </p:spPr>
        <p:txBody>
          <a:bodyPr wrap="square" rtlCol="0">
            <a:spAutoFit/>
          </a:bodyPr>
          <a:lstStyle/>
          <a:p>
            <a:pPr algn="just" fontAlgn="base"/>
            <a:endParaRPr lang="en-US" sz="1600" b="1" dirty="0"/>
          </a:p>
          <a:p>
            <a:pPr algn="just"/>
            <a:r>
              <a:rPr lang="en-US" sz="1600" b="1" dirty="0"/>
              <a:t>Proposed Solution: AI agent for chronic disease monitoring</a:t>
            </a:r>
          </a:p>
          <a:p>
            <a:pPr algn="just"/>
            <a:endParaRPr lang="en-US" sz="1600" b="1" dirty="0"/>
          </a:p>
          <a:p>
            <a:pPr algn="just"/>
            <a:r>
              <a:rPr lang="en-US" sz="1600" dirty="0"/>
              <a:t>Our project proposes </a:t>
            </a:r>
            <a:r>
              <a:rPr lang="en-US" sz="1600" dirty="0" err="1"/>
              <a:t>HealthSense</a:t>
            </a:r>
            <a:r>
              <a:rPr lang="en-US" sz="1600" dirty="0"/>
              <a:t> AI &amp; Smart Doctor Recommendation System that combines Artificial Intelligence and n8n workflow automation to provide quick and intelligent healthcare assistance. The system analyzes disease images, medical reports, and symptoms using AI, assesses health risks, recommends suitable specialists, enables online appointment booking, and offers chatbot support through a single, user-friendly platform.</a:t>
            </a:r>
          </a:p>
          <a:p>
            <a:pPr algn="just"/>
            <a:endParaRPr lang="en-IN"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pic>
        <p:nvPicPr>
          <p:cNvPr id="4" name="Picture 2">
            <a:extLst>
              <a:ext uri="{FF2B5EF4-FFF2-40B4-BE49-F238E27FC236}">
                <a16:creationId xmlns:a16="http://schemas.microsoft.com/office/drawing/2014/main" id="{FE419581-81CB-A301-610C-3277D5B433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283"/>
          <a:stretch/>
        </p:blipFill>
        <p:spPr bwMode="auto">
          <a:xfrm>
            <a:off x="405191" y="3429000"/>
            <a:ext cx="11381618"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E4207E4-A377-7C20-DF29-00F38E8C57A1}"/>
              </a:ext>
            </a:extLst>
          </p:cNvPr>
          <p:cNvSpPr txBox="1"/>
          <p:nvPr/>
        </p:nvSpPr>
        <p:spPr>
          <a:xfrm>
            <a:off x="576072" y="1314690"/>
            <a:ext cx="6097656" cy="3416320"/>
          </a:xfrm>
          <a:prstGeom prst="rect">
            <a:avLst/>
          </a:prstGeom>
          <a:noFill/>
        </p:spPr>
        <p:txBody>
          <a:bodyPr wrap="square">
            <a:spAutoFit/>
          </a:bodyPr>
          <a:lstStyle/>
          <a:p>
            <a:pPr algn="just">
              <a:lnSpc>
                <a:spcPct val="150000"/>
              </a:lnSpc>
            </a:pPr>
            <a:r>
              <a:rPr lang="en-US" sz="1600" b="1" dirty="0"/>
              <a:t>System Flow</a:t>
            </a:r>
          </a:p>
          <a:p>
            <a:pPr marL="342900" indent="-342900" algn="just">
              <a:buFont typeface="+mj-lt"/>
              <a:buAutoNum type="arabicPeriod"/>
            </a:pPr>
            <a:r>
              <a:rPr lang="en-US" sz="1600" dirty="0"/>
              <a:t>User submits health data through the website. </a:t>
            </a:r>
          </a:p>
          <a:p>
            <a:pPr marL="342900" indent="-342900" algn="just">
              <a:buFont typeface="+mj-lt"/>
              <a:buAutoNum type="arabicPeriod"/>
            </a:pPr>
            <a:r>
              <a:rPr lang="en-US" sz="1600" dirty="0"/>
              <a:t>Frontend sends the request to </a:t>
            </a:r>
            <a:r>
              <a:rPr lang="en-US" sz="1600" b="1" dirty="0"/>
              <a:t>n8n</a:t>
            </a:r>
            <a:r>
              <a:rPr lang="en-US" sz="1600" dirty="0"/>
              <a:t> via API/Webhooks. </a:t>
            </a:r>
          </a:p>
          <a:p>
            <a:pPr marL="342900" indent="-342900" algn="just">
              <a:buFont typeface="+mj-lt"/>
              <a:buAutoNum type="arabicPeriod"/>
            </a:pPr>
            <a:r>
              <a:rPr lang="en-US" sz="1600" b="1" dirty="0"/>
              <a:t>n8n</a:t>
            </a:r>
            <a:r>
              <a:rPr lang="en-US" sz="1600" dirty="0"/>
              <a:t> triggers the appropriate workflow. </a:t>
            </a:r>
          </a:p>
          <a:p>
            <a:pPr marL="342900" indent="-342900" algn="just">
              <a:buFont typeface="+mj-lt"/>
              <a:buAutoNum type="arabicPeriod"/>
            </a:pPr>
            <a:r>
              <a:rPr lang="en-US" sz="1600" b="1" dirty="0"/>
              <a:t>Google Gemini AI</a:t>
            </a:r>
            <a:r>
              <a:rPr lang="en-US" sz="1600" dirty="0"/>
              <a:t> analyzes disease images, symptoms, or medical reports. </a:t>
            </a:r>
          </a:p>
          <a:p>
            <a:pPr marL="342900" indent="-342900" algn="just">
              <a:buFont typeface="+mj-lt"/>
              <a:buAutoNum type="arabicPeriod"/>
            </a:pPr>
            <a:r>
              <a:rPr lang="en-US" sz="1600" dirty="0"/>
              <a:t>AI generates health insights and recommendations. </a:t>
            </a:r>
          </a:p>
          <a:p>
            <a:pPr marL="342900" indent="-342900" algn="just">
              <a:buFont typeface="+mj-lt"/>
              <a:buAutoNum type="arabicPeriod"/>
            </a:pPr>
            <a:r>
              <a:rPr lang="en-US" sz="1600" dirty="0"/>
              <a:t>Appointment and contact details are stored in </a:t>
            </a:r>
            <a:r>
              <a:rPr lang="en-US" sz="1600" b="1" dirty="0"/>
              <a:t>Google Sheets</a:t>
            </a:r>
            <a:r>
              <a:rPr lang="en-US" sz="1600" dirty="0"/>
              <a:t>. </a:t>
            </a:r>
          </a:p>
          <a:p>
            <a:pPr marL="342900" indent="-342900" algn="just">
              <a:buFont typeface="+mj-lt"/>
              <a:buAutoNum type="arabicPeriod"/>
            </a:pPr>
            <a:r>
              <a:rPr lang="en-US" sz="1600" b="1" dirty="0"/>
              <a:t>Gmail</a:t>
            </a:r>
            <a:r>
              <a:rPr lang="en-US" sz="1600" dirty="0"/>
              <a:t> sends automated appointment confirmations and notifications. </a:t>
            </a:r>
          </a:p>
          <a:p>
            <a:pPr marL="342900" indent="-342900" algn="just">
              <a:buFont typeface="+mj-lt"/>
              <a:buAutoNum type="arabicPeriod"/>
            </a:pPr>
            <a:r>
              <a:rPr lang="en-US" sz="1600" dirty="0"/>
              <a:t>The processed results are displayed on the website in real time.</a:t>
            </a:r>
          </a:p>
        </p:txBody>
      </p:sp>
      <p:sp>
        <p:nvSpPr>
          <p:cNvPr id="7" name="TextBox 6">
            <a:extLst>
              <a:ext uri="{FF2B5EF4-FFF2-40B4-BE49-F238E27FC236}">
                <a16:creationId xmlns:a16="http://schemas.microsoft.com/office/drawing/2014/main" id="{654519F0-0309-5177-CEF1-9E386D6C0FFC}"/>
              </a:ext>
            </a:extLst>
          </p:cNvPr>
          <p:cNvSpPr txBox="1"/>
          <p:nvPr/>
        </p:nvSpPr>
        <p:spPr>
          <a:xfrm>
            <a:off x="576072" y="704088"/>
            <a:ext cx="7214616" cy="461665"/>
          </a:xfrm>
          <a:prstGeom prst="rect">
            <a:avLst/>
          </a:prstGeom>
          <a:noFill/>
        </p:spPr>
        <p:txBody>
          <a:bodyPr wrap="square" rtlCol="0">
            <a:spAutoFit/>
          </a:bodyPr>
          <a:lstStyle/>
          <a:p>
            <a:r>
              <a:rPr lang="en-US" sz="2400" b="1" dirty="0"/>
              <a:t>System  Approach</a:t>
            </a:r>
            <a:endParaRPr lang="en-IN" sz="2400" b="1" dirty="0"/>
          </a:p>
        </p:txBody>
      </p:sp>
      <p:grpSp>
        <p:nvGrpSpPr>
          <p:cNvPr id="10" name="Group 9">
            <a:extLst>
              <a:ext uri="{FF2B5EF4-FFF2-40B4-BE49-F238E27FC236}">
                <a16:creationId xmlns:a16="http://schemas.microsoft.com/office/drawing/2014/main" id="{8A27FDDA-DBF0-EB2D-AB45-93C8386A518E}"/>
              </a:ext>
            </a:extLst>
          </p:cNvPr>
          <p:cNvGrpSpPr/>
          <p:nvPr/>
        </p:nvGrpSpPr>
        <p:grpSpPr>
          <a:xfrm>
            <a:off x="6900238" y="497919"/>
            <a:ext cx="4383987" cy="5862162"/>
            <a:chOff x="6621106" y="640239"/>
            <a:chExt cx="4383987" cy="5862162"/>
          </a:xfrm>
        </p:grpSpPr>
        <p:pic>
          <p:nvPicPr>
            <p:cNvPr id="8" name="Picture 7">
              <a:extLst>
                <a:ext uri="{FF2B5EF4-FFF2-40B4-BE49-F238E27FC236}">
                  <a16:creationId xmlns:a16="http://schemas.microsoft.com/office/drawing/2014/main" id="{E7825028-8E89-35D1-F800-6720FF5B7537}"/>
                </a:ext>
              </a:extLst>
            </p:cNvPr>
            <p:cNvPicPr>
              <a:picLocks noChangeAspect="1"/>
            </p:cNvPicPr>
            <p:nvPr/>
          </p:nvPicPr>
          <p:blipFill>
            <a:blip r:embed="rId3">
              <a:extLst>
                <a:ext uri="{28A0092B-C50C-407E-A947-70E740481C1C}">
                  <a14:useLocalDpi xmlns:a14="http://schemas.microsoft.com/office/drawing/2010/main" val="0"/>
                </a:ext>
              </a:extLst>
            </a:blip>
            <a:srcRect b="158"/>
            <a:stretch/>
          </p:blipFill>
          <p:spPr>
            <a:xfrm>
              <a:off x="6621106" y="640239"/>
              <a:ext cx="4383987" cy="5862162"/>
            </a:xfrm>
            <a:prstGeom prst="rect">
              <a:avLst/>
            </a:prstGeom>
          </p:spPr>
        </p:pic>
        <p:sp>
          <p:nvSpPr>
            <p:cNvPr id="9" name="Rectangle 8">
              <a:extLst>
                <a:ext uri="{FF2B5EF4-FFF2-40B4-BE49-F238E27FC236}">
                  <a16:creationId xmlns:a16="http://schemas.microsoft.com/office/drawing/2014/main" id="{88AC87E8-7EBB-D0C5-8804-B6371CB2242A}"/>
                </a:ext>
              </a:extLst>
            </p:cNvPr>
            <p:cNvSpPr/>
            <p:nvPr/>
          </p:nvSpPr>
          <p:spPr>
            <a:xfrm>
              <a:off x="6673728" y="6261100"/>
              <a:ext cx="1069039" cy="211667"/>
            </a:xfrm>
            <a:prstGeom prst="rect">
              <a:avLst/>
            </a:prstGeom>
            <a:solidFill>
              <a:srgbClr val="FAFB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54519F0-0309-5177-CEF1-9E386D6C0FFC}"/>
              </a:ext>
            </a:extLst>
          </p:cNvPr>
          <p:cNvSpPr txBox="1"/>
          <p:nvPr/>
        </p:nvSpPr>
        <p:spPr>
          <a:xfrm>
            <a:off x="576072" y="704088"/>
            <a:ext cx="7214616" cy="461665"/>
          </a:xfrm>
          <a:prstGeom prst="rect">
            <a:avLst/>
          </a:prstGeom>
          <a:noFill/>
        </p:spPr>
        <p:txBody>
          <a:bodyPr wrap="square" rtlCol="0">
            <a:spAutoFit/>
          </a:bodyPr>
          <a:lstStyle/>
          <a:p>
            <a:r>
              <a:rPr lang="en-US" sz="2400" b="1" dirty="0"/>
              <a:t>Technology Stack</a:t>
            </a:r>
          </a:p>
        </p:txBody>
      </p:sp>
      <p:sp>
        <p:nvSpPr>
          <p:cNvPr id="2" name="TextBox 1">
            <a:extLst>
              <a:ext uri="{FF2B5EF4-FFF2-40B4-BE49-F238E27FC236}">
                <a16:creationId xmlns:a16="http://schemas.microsoft.com/office/drawing/2014/main" id="{6CFA0EAB-66E2-AA62-E659-508165F133A1}"/>
              </a:ext>
            </a:extLst>
          </p:cNvPr>
          <p:cNvSpPr txBox="1"/>
          <p:nvPr/>
        </p:nvSpPr>
        <p:spPr>
          <a:xfrm>
            <a:off x="576072" y="1243717"/>
            <a:ext cx="6097604" cy="3662541"/>
          </a:xfrm>
          <a:prstGeom prst="rect">
            <a:avLst/>
          </a:prstGeom>
          <a:noFill/>
        </p:spPr>
        <p:txBody>
          <a:bodyPr wrap="square">
            <a:spAutoFit/>
          </a:bodyPr>
          <a:lstStyle/>
          <a:p>
            <a:pPr algn="just">
              <a:lnSpc>
                <a:spcPct val="150000"/>
              </a:lnSpc>
            </a:pPr>
            <a:r>
              <a:rPr lang="en-US" sz="1600" b="1" dirty="0"/>
              <a:t>Key Technologies</a:t>
            </a:r>
          </a:p>
          <a:p>
            <a:pPr marL="285750" indent="-285750" algn="just">
              <a:buFont typeface="Arial" panose="020B0604020202020204" pitchFamily="34" charset="0"/>
              <a:buChar char="•"/>
            </a:pPr>
            <a:r>
              <a:rPr lang="en-US" sz="1600" b="1" dirty="0"/>
              <a:t>HTML5</a:t>
            </a:r>
            <a:r>
              <a:rPr lang="en-US" sz="1600" dirty="0"/>
              <a:t> – Structure of the web application. </a:t>
            </a:r>
          </a:p>
          <a:p>
            <a:pPr marL="285750" indent="-285750" algn="just">
              <a:buFont typeface="Arial" panose="020B0604020202020204" pitchFamily="34" charset="0"/>
              <a:buChar char="•"/>
            </a:pPr>
            <a:r>
              <a:rPr lang="en-US" sz="1600" b="1" dirty="0"/>
              <a:t>CSS3</a:t>
            </a:r>
            <a:r>
              <a:rPr lang="en-US" sz="1600" dirty="0"/>
              <a:t> – Responsive UI with </a:t>
            </a:r>
            <a:r>
              <a:rPr lang="en-US" sz="1600" dirty="0" err="1"/>
              <a:t>Glassmorphism</a:t>
            </a:r>
            <a:r>
              <a:rPr lang="en-US" sz="1600" dirty="0"/>
              <a:t> effects and animations. </a:t>
            </a:r>
          </a:p>
          <a:p>
            <a:pPr marL="285750" indent="-285750" algn="just">
              <a:buFont typeface="Arial" panose="020B0604020202020204" pitchFamily="34" charset="0"/>
              <a:buChar char="•"/>
            </a:pPr>
            <a:r>
              <a:rPr lang="en-US" sz="1600" b="1" dirty="0"/>
              <a:t>JavaScript</a:t>
            </a:r>
            <a:r>
              <a:rPr lang="en-US" sz="1600" dirty="0"/>
              <a:t> – Handles frontend logic and API communication. </a:t>
            </a:r>
          </a:p>
          <a:p>
            <a:pPr marL="285750" indent="-285750" algn="just">
              <a:buFont typeface="Arial" panose="020B0604020202020204" pitchFamily="34" charset="0"/>
              <a:buChar char="•"/>
            </a:pPr>
            <a:r>
              <a:rPr lang="en-US" sz="1600" b="1" dirty="0"/>
              <a:t>n8n</a:t>
            </a:r>
            <a:r>
              <a:rPr lang="en-US" sz="1600" dirty="0"/>
              <a:t> – Automates workflows between the website and external services. </a:t>
            </a:r>
          </a:p>
          <a:p>
            <a:pPr marL="285750" indent="-285750" algn="just">
              <a:buFont typeface="Arial" panose="020B0604020202020204" pitchFamily="34" charset="0"/>
              <a:buChar char="•"/>
            </a:pPr>
            <a:r>
              <a:rPr lang="en-US" sz="1600" b="1" dirty="0"/>
              <a:t>Google Gemini API</a:t>
            </a:r>
            <a:r>
              <a:rPr lang="en-US" sz="1600" dirty="0"/>
              <a:t> – Performs AI-based disease image and symptom analysis. </a:t>
            </a:r>
          </a:p>
          <a:p>
            <a:pPr marL="285750" indent="-285750" algn="just">
              <a:buFont typeface="Arial" panose="020B0604020202020204" pitchFamily="34" charset="0"/>
              <a:buChar char="•"/>
            </a:pPr>
            <a:r>
              <a:rPr lang="en-US" sz="1600" b="1" dirty="0"/>
              <a:t>Google Sheets</a:t>
            </a:r>
            <a:r>
              <a:rPr lang="en-US" sz="1600" dirty="0"/>
              <a:t> – Stores appointment and contact form data. </a:t>
            </a:r>
          </a:p>
          <a:p>
            <a:pPr marL="285750" indent="-285750" algn="just">
              <a:buFont typeface="Arial" panose="020B0604020202020204" pitchFamily="34" charset="0"/>
              <a:buChar char="•"/>
            </a:pPr>
            <a:r>
              <a:rPr lang="en-US" sz="1600" b="1" dirty="0"/>
              <a:t>Gmail</a:t>
            </a:r>
            <a:r>
              <a:rPr lang="en-US" sz="1600" dirty="0"/>
              <a:t> – Sends automated appointment confirmations and notifications. </a:t>
            </a:r>
          </a:p>
          <a:p>
            <a:pPr marL="285750" indent="-285750" algn="just">
              <a:buFont typeface="Arial" panose="020B0604020202020204" pitchFamily="34" charset="0"/>
              <a:buChar char="•"/>
            </a:pPr>
            <a:r>
              <a:rPr lang="en-US" sz="1600" b="1" dirty="0"/>
              <a:t>REST APIs &amp; Webhooks</a:t>
            </a:r>
            <a:r>
              <a:rPr lang="en-US" sz="1600" dirty="0"/>
              <a:t> – Connect the frontend with n8n workflows and AI services.</a:t>
            </a:r>
          </a:p>
        </p:txBody>
      </p:sp>
      <p:pic>
        <p:nvPicPr>
          <p:cNvPr id="3" name="Picture 2">
            <a:extLst>
              <a:ext uri="{FF2B5EF4-FFF2-40B4-BE49-F238E27FC236}">
                <a16:creationId xmlns:a16="http://schemas.microsoft.com/office/drawing/2014/main" id="{C93621BA-CEA1-80C2-7444-95A82853E4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579" b="3298"/>
          <a:stretch/>
        </p:blipFill>
        <p:spPr bwMode="auto">
          <a:xfrm>
            <a:off x="6764536" y="334317"/>
            <a:ext cx="4919732" cy="6523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7995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65121D-D70E-4D80-ABB5-FD30002C4D1C}"/>
              </a:ext>
            </a:extLst>
          </p:cNvPr>
          <p:cNvSpPr txBox="1"/>
          <p:nvPr/>
        </p:nvSpPr>
        <p:spPr>
          <a:xfrm>
            <a:off x="576072" y="704088"/>
            <a:ext cx="7214616" cy="461665"/>
          </a:xfrm>
          <a:prstGeom prst="rect">
            <a:avLst/>
          </a:prstGeom>
          <a:noFill/>
        </p:spPr>
        <p:txBody>
          <a:bodyPr wrap="square" rtlCol="0">
            <a:spAutoFit/>
          </a:bodyPr>
          <a:lstStyle/>
          <a:p>
            <a:r>
              <a:rPr lang="en-US" sz="2400" b="1" dirty="0"/>
              <a:t>Result</a:t>
            </a:r>
          </a:p>
        </p:txBody>
      </p:sp>
      <p:pic>
        <p:nvPicPr>
          <p:cNvPr id="8" name="Picture 7">
            <a:extLst>
              <a:ext uri="{FF2B5EF4-FFF2-40B4-BE49-F238E27FC236}">
                <a16:creationId xmlns:a16="http://schemas.microsoft.com/office/drawing/2014/main" id="{B5424957-4253-21A9-27FE-E270F087AD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1068" y="703227"/>
            <a:ext cx="3994355" cy="6001058"/>
          </a:xfrm>
          <a:prstGeom prst="rect">
            <a:avLst/>
          </a:prstGeom>
        </p:spPr>
      </p:pic>
      <p:pic>
        <p:nvPicPr>
          <p:cNvPr id="9" name="Picture 8">
            <a:extLst>
              <a:ext uri="{FF2B5EF4-FFF2-40B4-BE49-F238E27FC236}">
                <a16:creationId xmlns:a16="http://schemas.microsoft.com/office/drawing/2014/main" id="{D5377ECA-FFCB-FB63-CFF2-67C842E687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880" y="1767657"/>
            <a:ext cx="5705999" cy="3872199"/>
          </a:xfrm>
          <a:prstGeom prst="rect">
            <a:avLst/>
          </a:prstGeom>
        </p:spPr>
      </p:pic>
      <p:sp>
        <p:nvSpPr>
          <p:cNvPr id="10" name="Content Placeholder 2">
            <a:extLst>
              <a:ext uri="{FF2B5EF4-FFF2-40B4-BE49-F238E27FC236}">
                <a16:creationId xmlns:a16="http://schemas.microsoft.com/office/drawing/2014/main" id="{A9E3437D-1339-7B70-3C00-CA73AFF14339}"/>
              </a:ext>
            </a:extLst>
          </p:cNvPr>
          <p:cNvSpPr txBox="1">
            <a:spLocks/>
          </p:cNvSpPr>
          <p:nvPr/>
        </p:nvSpPr>
        <p:spPr>
          <a:xfrm>
            <a:off x="290511" y="1226019"/>
            <a:ext cx="3284793" cy="708490"/>
          </a:xfr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800" b="1" dirty="0">
                <a:latin typeface="Franklin Gothic Book"/>
              </a:rPr>
              <a:t>1. Chatbot Automation</a:t>
            </a:r>
          </a:p>
        </p:txBody>
      </p:sp>
      <p:sp>
        <p:nvSpPr>
          <p:cNvPr id="11" name="TextBox 10">
            <a:extLst>
              <a:ext uri="{FF2B5EF4-FFF2-40B4-BE49-F238E27FC236}">
                <a16:creationId xmlns:a16="http://schemas.microsoft.com/office/drawing/2014/main" id="{E20AF3AD-0391-B8E2-8005-D0FFD99E678F}"/>
              </a:ext>
            </a:extLst>
          </p:cNvPr>
          <p:cNvSpPr txBox="1"/>
          <p:nvPr/>
        </p:nvSpPr>
        <p:spPr>
          <a:xfrm>
            <a:off x="89756" y="6153912"/>
            <a:ext cx="6971096" cy="369332"/>
          </a:xfrm>
          <a:prstGeom prst="rect">
            <a:avLst/>
          </a:prstGeom>
          <a:noFill/>
        </p:spPr>
        <p:txBody>
          <a:bodyPr wrap="square">
            <a:spAutoFit/>
          </a:bodyPr>
          <a:lstStyle/>
          <a:p>
            <a:pPr marL="0" indent="0">
              <a:buNone/>
            </a:pPr>
            <a:r>
              <a:rPr lang="en-IN" sz="1800" dirty="0">
                <a:latin typeface="Franklin Gothic Book"/>
              </a:rPr>
              <a:t>GitHub Link:</a:t>
            </a:r>
            <a:r>
              <a:rPr lang="en-IN" sz="1800" dirty="0">
                <a:solidFill>
                  <a:srgbClr val="0070C0"/>
                </a:solidFill>
                <a:latin typeface="Franklin Gothic Book"/>
              </a:rPr>
              <a:t> </a:t>
            </a:r>
            <a:r>
              <a:rPr lang="en-IN" sz="1800" dirty="0">
                <a:solidFill>
                  <a:srgbClr val="0070C0"/>
                </a:solidFill>
                <a:latin typeface="Franklin Gothic Book"/>
                <a:hlinkClick r:id="rId5"/>
              </a:rPr>
              <a:t>https://github.com/ItsDeveloperChirag/HealthSense-AI</a:t>
            </a:r>
            <a:endParaRPr lang="en-IN" sz="1800" u="sng" dirty="0">
              <a:solidFill>
                <a:srgbClr val="0070C0"/>
              </a:solidFill>
              <a:latin typeface="Franklin Gothic Book"/>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65121D-D70E-4D80-ABB5-FD30002C4D1C}"/>
              </a:ext>
            </a:extLst>
          </p:cNvPr>
          <p:cNvSpPr txBox="1"/>
          <p:nvPr/>
        </p:nvSpPr>
        <p:spPr>
          <a:xfrm>
            <a:off x="576072" y="704088"/>
            <a:ext cx="7214616" cy="461665"/>
          </a:xfrm>
          <a:prstGeom prst="rect">
            <a:avLst/>
          </a:prstGeom>
          <a:noFill/>
        </p:spPr>
        <p:txBody>
          <a:bodyPr wrap="square" rtlCol="0">
            <a:spAutoFit/>
          </a:bodyPr>
          <a:lstStyle/>
          <a:p>
            <a:r>
              <a:rPr lang="en-US" sz="2400" b="1" dirty="0"/>
              <a:t>Result</a:t>
            </a:r>
          </a:p>
        </p:txBody>
      </p:sp>
      <p:pic>
        <p:nvPicPr>
          <p:cNvPr id="2" name="Picture 1">
            <a:extLst>
              <a:ext uri="{FF2B5EF4-FFF2-40B4-BE49-F238E27FC236}">
                <a16:creationId xmlns:a16="http://schemas.microsoft.com/office/drawing/2014/main" id="{EBF5C43C-1124-918C-225D-774102ECC7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5247" y="3858987"/>
            <a:ext cx="8891989" cy="2686289"/>
          </a:xfrm>
          <a:prstGeom prst="rect">
            <a:avLst/>
          </a:prstGeom>
        </p:spPr>
      </p:pic>
      <p:pic>
        <p:nvPicPr>
          <p:cNvPr id="4" name="Picture 3">
            <a:extLst>
              <a:ext uri="{FF2B5EF4-FFF2-40B4-BE49-F238E27FC236}">
                <a16:creationId xmlns:a16="http://schemas.microsoft.com/office/drawing/2014/main" id="{01F2818B-BA61-DD24-13BD-10EF4AF49C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55370" y="1019506"/>
            <a:ext cx="7544642" cy="2803357"/>
          </a:xfrm>
          <a:prstGeom prst="rect">
            <a:avLst/>
          </a:prstGeom>
        </p:spPr>
      </p:pic>
      <p:sp>
        <p:nvSpPr>
          <p:cNvPr id="5" name="Content Placeholder 2">
            <a:extLst>
              <a:ext uri="{FF2B5EF4-FFF2-40B4-BE49-F238E27FC236}">
                <a16:creationId xmlns:a16="http://schemas.microsoft.com/office/drawing/2014/main" id="{47C80695-2E82-7A95-20A1-D0C6B5C3250B}"/>
              </a:ext>
            </a:extLst>
          </p:cNvPr>
          <p:cNvSpPr txBox="1">
            <a:spLocks/>
          </p:cNvSpPr>
          <p:nvPr/>
        </p:nvSpPr>
        <p:spPr>
          <a:xfrm>
            <a:off x="235749" y="2900983"/>
            <a:ext cx="3284793" cy="708490"/>
          </a:xfr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800" b="1" dirty="0">
                <a:latin typeface="Franklin Gothic Book"/>
              </a:rPr>
              <a:t>2. Appointment Automation</a:t>
            </a:r>
          </a:p>
        </p:txBody>
      </p:sp>
    </p:spTree>
    <p:extLst>
      <p:ext uri="{BB962C8B-B14F-4D97-AF65-F5344CB8AC3E}">
        <p14:creationId xmlns:p14="http://schemas.microsoft.com/office/powerpoint/2010/main" val="1218164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65121D-D70E-4D80-ABB5-FD30002C4D1C}"/>
              </a:ext>
            </a:extLst>
          </p:cNvPr>
          <p:cNvSpPr txBox="1"/>
          <p:nvPr/>
        </p:nvSpPr>
        <p:spPr>
          <a:xfrm>
            <a:off x="576072" y="704088"/>
            <a:ext cx="7214616" cy="461665"/>
          </a:xfrm>
          <a:prstGeom prst="rect">
            <a:avLst/>
          </a:prstGeom>
          <a:noFill/>
        </p:spPr>
        <p:txBody>
          <a:bodyPr wrap="square" rtlCol="0">
            <a:spAutoFit/>
          </a:bodyPr>
          <a:lstStyle/>
          <a:p>
            <a:r>
              <a:rPr lang="en-US" sz="2400" b="1" dirty="0"/>
              <a:t>Result</a:t>
            </a:r>
          </a:p>
        </p:txBody>
      </p:sp>
      <p:pic>
        <p:nvPicPr>
          <p:cNvPr id="2" name="Picture 1">
            <a:extLst>
              <a:ext uri="{FF2B5EF4-FFF2-40B4-BE49-F238E27FC236}">
                <a16:creationId xmlns:a16="http://schemas.microsoft.com/office/drawing/2014/main" id="{6348F752-447B-8DC3-F2BF-D0845C9C9C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0909" y="4774739"/>
            <a:ext cx="6089963" cy="1905098"/>
          </a:xfrm>
          <a:prstGeom prst="rect">
            <a:avLst/>
          </a:prstGeom>
        </p:spPr>
      </p:pic>
      <p:pic>
        <p:nvPicPr>
          <p:cNvPr id="4" name="Picture 3">
            <a:extLst>
              <a:ext uri="{FF2B5EF4-FFF2-40B4-BE49-F238E27FC236}">
                <a16:creationId xmlns:a16="http://schemas.microsoft.com/office/drawing/2014/main" id="{045DAE69-8D83-F914-94FF-6EB16E05AF86}"/>
              </a:ext>
            </a:extLst>
          </p:cNvPr>
          <p:cNvPicPr>
            <a:picLocks noChangeAspect="1"/>
          </p:cNvPicPr>
          <p:nvPr/>
        </p:nvPicPr>
        <p:blipFill>
          <a:blip r:embed="rId4"/>
          <a:srcRect b="37044"/>
          <a:stretch/>
        </p:blipFill>
        <p:spPr>
          <a:xfrm>
            <a:off x="94051" y="1165753"/>
            <a:ext cx="7583701" cy="3382137"/>
          </a:xfrm>
          <a:prstGeom prst="rect">
            <a:avLst/>
          </a:prstGeom>
        </p:spPr>
      </p:pic>
      <p:sp>
        <p:nvSpPr>
          <p:cNvPr id="5" name="Content Placeholder 2">
            <a:extLst>
              <a:ext uri="{FF2B5EF4-FFF2-40B4-BE49-F238E27FC236}">
                <a16:creationId xmlns:a16="http://schemas.microsoft.com/office/drawing/2014/main" id="{62473BB5-E3E3-EFCC-31A5-3441D1194BDA}"/>
              </a:ext>
            </a:extLst>
          </p:cNvPr>
          <p:cNvSpPr txBox="1">
            <a:spLocks/>
          </p:cNvSpPr>
          <p:nvPr/>
        </p:nvSpPr>
        <p:spPr>
          <a:xfrm>
            <a:off x="448847" y="5242068"/>
            <a:ext cx="3284793" cy="708490"/>
          </a:xfr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800" b="1" dirty="0">
                <a:latin typeface="Franklin Gothic Book"/>
              </a:rPr>
              <a:t>3. Contact Automation</a:t>
            </a:r>
          </a:p>
        </p:txBody>
      </p:sp>
      <p:pic>
        <p:nvPicPr>
          <p:cNvPr id="6" name="Picture 5">
            <a:extLst>
              <a:ext uri="{FF2B5EF4-FFF2-40B4-BE49-F238E27FC236}">
                <a16:creationId xmlns:a16="http://schemas.microsoft.com/office/drawing/2014/main" id="{956E2E27-190B-9EB0-3491-B5F74802174B}"/>
              </a:ext>
            </a:extLst>
          </p:cNvPr>
          <p:cNvPicPr>
            <a:picLocks noChangeAspect="1"/>
          </p:cNvPicPr>
          <p:nvPr/>
        </p:nvPicPr>
        <p:blipFill>
          <a:blip r:embed="rId5"/>
          <a:stretch>
            <a:fillRect/>
          </a:stretch>
        </p:blipFill>
        <p:spPr>
          <a:xfrm>
            <a:off x="7839539" y="1343891"/>
            <a:ext cx="4232466" cy="3382137"/>
          </a:xfrm>
          <a:prstGeom prst="rect">
            <a:avLst/>
          </a:prstGeom>
        </p:spPr>
      </p:pic>
    </p:spTree>
    <p:extLst>
      <p:ext uri="{BB962C8B-B14F-4D97-AF65-F5344CB8AC3E}">
        <p14:creationId xmlns:p14="http://schemas.microsoft.com/office/powerpoint/2010/main" val="3089692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65121D-D70E-4D80-ABB5-FD30002C4D1C}"/>
              </a:ext>
            </a:extLst>
          </p:cNvPr>
          <p:cNvSpPr txBox="1"/>
          <p:nvPr/>
        </p:nvSpPr>
        <p:spPr>
          <a:xfrm>
            <a:off x="576072" y="704088"/>
            <a:ext cx="7214616" cy="461665"/>
          </a:xfrm>
          <a:prstGeom prst="rect">
            <a:avLst/>
          </a:prstGeom>
          <a:noFill/>
        </p:spPr>
        <p:txBody>
          <a:bodyPr wrap="square" rtlCol="0">
            <a:spAutoFit/>
          </a:bodyPr>
          <a:lstStyle/>
          <a:p>
            <a:r>
              <a:rPr lang="en-US" sz="2400" b="1" dirty="0"/>
              <a:t>Result</a:t>
            </a:r>
          </a:p>
        </p:txBody>
      </p:sp>
      <p:pic>
        <p:nvPicPr>
          <p:cNvPr id="2" name="Picture 1">
            <a:extLst>
              <a:ext uri="{FF2B5EF4-FFF2-40B4-BE49-F238E27FC236}">
                <a16:creationId xmlns:a16="http://schemas.microsoft.com/office/drawing/2014/main" id="{2EA5F0C2-63A8-5A5F-27D4-DF458718B116}"/>
              </a:ext>
            </a:extLst>
          </p:cNvPr>
          <p:cNvPicPr>
            <a:picLocks noChangeAspect="1"/>
          </p:cNvPicPr>
          <p:nvPr/>
        </p:nvPicPr>
        <p:blipFill>
          <a:blip r:embed="rId3">
            <a:extLst>
              <a:ext uri="{28A0092B-C50C-407E-A947-70E740481C1C}">
                <a14:useLocalDpi xmlns:a14="http://schemas.microsoft.com/office/drawing/2010/main" val="0"/>
              </a:ext>
            </a:extLst>
          </a:blip>
          <a:srcRect l="1897" t="6137"/>
          <a:stretch/>
        </p:blipFill>
        <p:spPr>
          <a:xfrm>
            <a:off x="2287019" y="3542461"/>
            <a:ext cx="9874262" cy="3123373"/>
          </a:xfrm>
          <a:prstGeom prst="rect">
            <a:avLst/>
          </a:prstGeom>
        </p:spPr>
      </p:pic>
      <p:pic>
        <p:nvPicPr>
          <p:cNvPr id="4" name="Picture 3">
            <a:extLst>
              <a:ext uri="{FF2B5EF4-FFF2-40B4-BE49-F238E27FC236}">
                <a16:creationId xmlns:a16="http://schemas.microsoft.com/office/drawing/2014/main" id="{8B053E89-4A16-F2ED-CB5D-7970179AEEF7}"/>
              </a:ext>
            </a:extLst>
          </p:cNvPr>
          <p:cNvPicPr>
            <a:picLocks noChangeAspect="1"/>
          </p:cNvPicPr>
          <p:nvPr/>
        </p:nvPicPr>
        <p:blipFill>
          <a:blip r:embed="rId4">
            <a:extLst>
              <a:ext uri="{28A0092B-C50C-407E-A947-70E740481C1C}">
                <a14:useLocalDpi xmlns:a14="http://schemas.microsoft.com/office/drawing/2010/main" val="0"/>
              </a:ext>
            </a:extLst>
          </a:blip>
          <a:srcRect b="3754"/>
          <a:stretch/>
        </p:blipFill>
        <p:spPr>
          <a:xfrm>
            <a:off x="2287019" y="590068"/>
            <a:ext cx="9800252" cy="2909235"/>
          </a:xfrm>
          <a:prstGeom prst="rect">
            <a:avLst/>
          </a:prstGeom>
        </p:spPr>
      </p:pic>
      <p:sp>
        <p:nvSpPr>
          <p:cNvPr id="5" name="Content Placeholder 2">
            <a:extLst>
              <a:ext uri="{FF2B5EF4-FFF2-40B4-BE49-F238E27FC236}">
                <a16:creationId xmlns:a16="http://schemas.microsoft.com/office/drawing/2014/main" id="{F05C7040-46A0-D0A7-6F1E-9077AC1C1C3F}"/>
              </a:ext>
            </a:extLst>
          </p:cNvPr>
          <p:cNvSpPr txBox="1">
            <a:spLocks/>
          </p:cNvSpPr>
          <p:nvPr/>
        </p:nvSpPr>
        <p:spPr>
          <a:xfrm>
            <a:off x="290511" y="1226019"/>
            <a:ext cx="4028940" cy="708490"/>
          </a:xfr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800" b="1" dirty="0">
                <a:latin typeface="Franklin Gothic Book"/>
              </a:rPr>
              <a:t>4. Disease Scanner Automation</a:t>
            </a:r>
          </a:p>
        </p:txBody>
      </p:sp>
      <p:sp>
        <p:nvSpPr>
          <p:cNvPr id="6" name="Content Placeholder 2">
            <a:extLst>
              <a:ext uri="{FF2B5EF4-FFF2-40B4-BE49-F238E27FC236}">
                <a16:creationId xmlns:a16="http://schemas.microsoft.com/office/drawing/2014/main" id="{BB764258-7752-511C-7704-0109B044F956}"/>
              </a:ext>
            </a:extLst>
          </p:cNvPr>
          <p:cNvSpPr txBox="1">
            <a:spLocks/>
          </p:cNvSpPr>
          <p:nvPr/>
        </p:nvSpPr>
        <p:spPr>
          <a:xfrm>
            <a:off x="290511" y="3978890"/>
            <a:ext cx="4028940" cy="708490"/>
          </a:xfr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800" b="1" dirty="0">
                <a:latin typeface="Franklin Gothic Book"/>
              </a:rPr>
              <a:t>5. Symptom Checker Automation</a:t>
            </a:r>
          </a:p>
        </p:txBody>
      </p:sp>
    </p:spTree>
    <p:extLst>
      <p:ext uri="{BB962C8B-B14F-4D97-AF65-F5344CB8AC3E}">
        <p14:creationId xmlns:p14="http://schemas.microsoft.com/office/powerpoint/2010/main" val="3683530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65121D-D70E-4D80-ABB5-FD30002C4D1C}"/>
              </a:ext>
            </a:extLst>
          </p:cNvPr>
          <p:cNvSpPr txBox="1"/>
          <p:nvPr/>
        </p:nvSpPr>
        <p:spPr>
          <a:xfrm>
            <a:off x="576072" y="704088"/>
            <a:ext cx="7214616" cy="461665"/>
          </a:xfrm>
          <a:prstGeom prst="rect">
            <a:avLst/>
          </a:prstGeom>
          <a:noFill/>
        </p:spPr>
        <p:txBody>
          <a:bodyPr wrap="square" rtlCol="0">
            <a:spAutoFit/>
          </a:bodyPr>
          <a:lstStyle/>
          <a:p>
            <a:r>
              <a:rPr lang="en-US" sz="2400" b="1" dirty="0"/>
              <a:t>Result</a:t>
            </a:r>
          </a:p>
        </p:txBody>
      </p:sp>
      <p:pic>
        <p:nvPicPr>
          <p:cNvPr id="2" name="Picture 1">
            <a:extLst>
              <a:ext uri="{FF2B5EF4-FFF2-40B4-BE49-F238E27FC236}">
                <a16:creationId xmlns:a16="http://schemas.microsoft.com/office/drawing/2014/main" id="{C48BA76B-FBF0-F326-A6CC-1CA44D3435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36650"/>
            <a:ext cx="12192000" cy="5721350"/>
          </a:xfrm>
          <a:prstGeom prst="rect">
            <a:avLst/>
          </a:prstGeom>
        </p:spPr>
      </p:pic>
    </p:spTree>
    <p:extLst>
      <p:ext uri="{BB962C8B-B14F-4D97-AF65-F5344CB8AC3E}">
        <p14:creationId xmlns:p14="http://schemas.microsoft.com/office/powerpoint/2010/main" val="3085304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65121D-D70E-4D80-ABB5-FD30002C4D1C}"/>
              </a:ext>
            </a:extLst>
          </p:cNvPr>
          <p:cNvSpPr txBox="1"/>
          <p:nvPr/>
        </p:nvSpPr>
        <p:spPr>
          <a:xfrm>
            <a:off x="576072" y="457748"/>
            <a:ext cx="7214616" cy="461665"/>
          </a:xfrm>
          <a:prstGeom prst="rect">
            <a:avLst/>
          </a:prstGeom>
          <a:noFill/>
        </p:spPr>
        <p:txBody>
          <a:bodyPr wrap="square" rtlCol="0">
            <a:spAutoFit/>
          </a:bodyPr>
          <a:lstStyle/>
          <a:p>
            <a:r>
              <a:rPr lang="en-US" sz="2400" b="1" dirty="0"/>
              <a:t>Result</a:t>
            </a:r>
          </a:p>
        </p:txBody>
      </p:sp>
      <p:pic>
        <p:nvPicPr>
          <p:cNvPr id="2" name="Picture 1">
            <a:extLst>
              <a:ext uri="{FF2B5EF4-FFF2-40B4-BE49-F238E27FC236}">
                <a16:creationId xmlns:a16="http://schemas.microsoft.com/office/drawing/2014/main" id="{2F087F55-B7AC-462E-D897-1E75FC303F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19413"/>
            <a:ext cx="12192000" cy="5938587"/>
          </a:xfrm>
          <a:prstGeom prst="rect">
            <a:avLst/>
          </a:prstGeom>
        </p:spPr>
      </p:pic>
    </p:spTree>
    <p:extLst>
      <p:ext uri="{BB962C8B-B14F-4D97-AF65-F5344CB8AC3E}">
        <p14:creationId xmlns:p14="http://schemas.microsoft.com/office/powerpoint/2010/main" val="2443860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65121D-D70E-4D80-ABB5-FD30002C4D1C}"/>
              </a:ext>
            </a:extLst>
          </p:cNvPr>
          <p:cNvSpPr txBox="1"/>
          <p:nvPr/>
        </p:nvSpPr>
        <p:spPr>
          <a:xfrm>
            <a:off x="576072" y="704088"/>
            <a:ext cx="7214616" cy="461665"/>
          </a:xfrm>
          <a:prstGeom prst="rect">
            <a:avLst/>
          </a:prstGeom>
          <a:noFill/>
        </p:spPr>
        <p:txBody>
          <a:bodyPr wrap="square" rtlCol="0">
            <a:spAutoFit/>
          </a:bodyPr>
          <a:lstStyle/>
          <a:p>
            <a:r>
              <a:rPr lang="en-US" sz="2400" b="1" dirty="0"/>
              <a:t>Result</a:t>
            </a:r>
          </a:p>
        </p:txBody>
      </p:sp>
      <p:pic>
        <p:nvPicPr>
          <p:cNvPr id="2" name="Picture 1">
            <a:extLst>
              <a:ext uri="{FF2B5EF4-FFF2-40B4-BE49-F238E27FC236}">
                <a16:creationId xmlns:a16="http://schemas.microsoft.com/office/drawing/2014/main" id="{F4813D90-12FE-77C2-5557-2E6BF5A37C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55700"/>
            <a:ext cx="12192000" cy="5702300"/>
          </a:xfrm>
          <a:prstGeom prst="rect">
            <a:avLst/>
          </a:prstGeom>
        </p:spPr>
      </p:pic>
    </p:spTree>
    <p:extLst>
      <p:ext uri="{BB962C8B-B14F-4D97-AF65-F5344CB8AC3E}">
        <p14:creationId xmlns:p14="http://schemas.microsoft.com/office/powerpoint/2010/main" val="2863255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65121D-D70E-4D80-ABB5-FD30002C4D1C}"/>
              </a:ext>
            </a:extLst>
          </p:cNvPr>
          <p:cNvSpPr txBox="1"/>
          <p:nvPr/>
        </p:nvSpPr>
        <p:spPr>
          <a:xfrm>
            <a:off x="576072" y="704088"/>
            <a:ext cx="7214616" cy="461665"/>
          </a:xfrm>
          <a:prstGeom prst="rect">
            <a:avLst/>
          </a:prstGeom>
          <a:noFill/>
        </p:spPr>
        <p:txBody>
          <a:bodyPr wrap="square" rtlCol="0">
            <a:spAutoFit/>
          </a:bodyPr>
          <a:lstStyle/>
          <a:p>
            <a:r>
              <a:rPr lang="en-US" sz="2400" b="1" dirty="0"/>
              <a:t>Result</a:t>
            </a:r>
          </a:p>
        </p:txBody>
      </p:sp>
      <p:pic>
        <p:nvPicPr>
          <p:cNvPr id="2" name="Picture 1">
            <a:extLst>
              <a:ext uri="{FF2B5EF4-FFF2-40B4-BE49-F238E27FC236}">
                <a16:creationId xmlns:a16="http://schemas.microsoft.com/office/drawing/2014/main" id="{BFAE2504-19F6-FFFD-60A5-91A8A037B7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36650"/>
            <a:ext cx="12192000" cy="5721350"/>
          </a:xfrm>
          <a:prstGeom prst="rect">
            <a:avLst/>
          </a:prstGeom>
        </p:spPr>
      </p:pic>
    </p:spTree>
    <p:extLst>
      <p:ext uri="{BB962C8B-B14F-4D97-AF65-F5344CB8AC3E}">
        <p14:creationId xmlns:p14="http://schemas.microsoft.com/office/powerpoint/2010/main" val="116581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65121D-D70E-4D80-ABB5-FD30002C4D1C}"/>
              </a:ext>
            </a:extLst>
          </p:cNvPr>
          <p:cNvSpPr txBox="1"/>
          <p:nvPr/>
        </p:nvSpPr>
        <p:spPr>
          <a:xfrm>
            <a:off x="547197" y="533301"/>
            <a:ext cx="7214616" cy="461665"/>
          </a:xfrm>
          <a:prstGeom prst="rect">
            <a:avLst/>
          </a:prstGeom>
          <a:noFill/>
        </p:spPr>
        <p:txBody>
          <a:bodyPr wrap="square" rtlCol="0">
            <a:spAutoFit/>
          </a:bodyPr>
          <a:lstStyle/>
          <a:p>
            <a:r>
              <a:rPr lang="en-US" sz="2400" b="1" dirty="0"/>
              <a:t>Result</a:t>
            </a:r>
          </a:p>
        </p:txBody>
      </p:sp>
      <p:pic>
        <p:nvPicPr>
          <p:cNvPr id="2" name="Picture 1">
            <a:extLst>
              <a:ext uri="{FF2B5EF4-FFF2-40B4-BE49-F238E27FC236}">
                <a16:creationId xmlns:a16="http://schemas.microsoft.com/office/drawing/2014/main" id="{9FE112BA-0065-4DC4-4211-9F65423E4453}"/>
              </a:ext>
            </a:extLst>
          </p:cNvPr>
          <p:cNvPicPr>
            <a:picLocks noChangeAspect="1"/>
          </p:cNvPicPr>
          <p:nvPr/>
        </p:nvPicPr>
        <p:blipFill>
          <a:blip r:embed="rId3"/>
          <a:stretch>
            <a:fillRect/>
          </a:stretch>
        </p:blipFill>
        <p:spPr>
          <a:xfrm>
            <a:off x="76200" y="994966"/>
            <a:ext cx="12039600" cy="5863034"/>
          </a:xfrm>
          <a:prstGeom prst="rect">
            <a:avLst/>
          </a:prstGeom>
        </p:spPr>
      </p:pic>
    </p:spTree>
    <p:extLst>
      <p:ext uri="{BB962C8B-B14F-4D97-AF65-F5344CB8AC3E}">
        <p14:creationId xmlns:p14="http://schemas.microsoft.com/office/powerpoint/2010/main" val="2426333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65121D-D70E-4D80-ABB5-FD30002C4D1C}"/>
              </a:ext>
            </a:extLst>
          </p:cNvPr>
          <p:cNvSpPr txBox="1"/>
          <p:nvPr/>
        </p:nvSpPr>
        <p:spPr>
          <a:xfrm>
            <a:off x="576072" y="704088"/>
            <a:ext cx="7214616" cy="461665"/>
          </a:xfrm>
          <a:prstGeom prst="rect">
            <a:avLst/>
          </a:prstGeom>
          <a:noFill/>
        </p:spPr>
        <p:txBody>
          <a:bodyPr wrap="square" rtlCol="0">
            <a:spAutoFit/>
          </a:bodyPr>
          <a:lstStyle/>
          <a:p>
            <a:r>
              <a:rPr lang="en-US" sz="2400" b="1" dirty="0"/>
              <a:t>Result</a:t>
            </a:r>
          </a:p>
        </p:txBody>
      </p:sp>
      <p:pic>
        <p:nvPicPr>
          <p:cNvPr id="2" name="Picture 1">
            <a:extLst>
              <a:ext uri="{FF2B5EF4-FFF2-40B4-BE49-F238E27FC236}">
                <a16:creationId xmlns:a16="http://schemas.microsoft.com/office/drawing/2014/main" id="{C5850DED-DDFA-8839-DCE4-A64458870FD7}"/>
              </a:ext>
            </a:extLst>
          </p:cNvPr>
          <p:cNvPicPr>
            <a:picLocks noChangeAspect="1"/>
          </p:cNvPicPr>
          <p:nvPr/>
        </p:nvPicPr>
        <p:blipFill>
          <a:blip r:embed="rId3"/>
          <a:stretch>
            <a:fillRect/>
          </a:stretch>
        </p:blipFill>
        <p:spPr>
          <a:xfrm>
            <a:off x="0" y="1165753"/>
            <a:ext cx="12192000" cy="5664200"/>
          </a:xfrm>
          <a:prstGeom prst="rect">
            <a:avLst/>
          </a:prstGeom>
        </p:spPr>
      </p:pic>
    </p:spTree>
    <p:extLst>
      <p:ext uri="{BB962C8B-B14F-4D97-AF65-F5344CB8AC3E}">
        <p14:creationId xmlns:p14="http://schemas.microsoft.com/office/powerpoint/2010/main" val="3087272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65121D-D70E-4D80-ABB5-FD30002C4D1C}"/>
              </a:ext>
            </a:extLst>
          </p:cNvPr>
          <p:cNvSpPr txBox="1"/>
          <p:nvPr/>
        </p:nvSpPr>
        <p:spPr>
          <a:xfrm>
            <a:off x="576072" y="521208"/>
            <a:ext cx="7214616" cy="461665"/>
          </a:xfrm>
          <a:prstGeom prst="rect">
            <a:avLst/>
          </a:prstGeom>
          <a:noFill/>
        </p:spPr>
        <p:txBody>
          <a:bodyPr wrap="square" rtlCol="0">
            <a:spAutoFit/>
          </a:bodyPr>
          <a:lstStyle/>
          <a:p>
            <a:r>
              <a:rPr lang="en-US" sz="2400" b="1" dirty="0"/>
              <a:t>Result</a:t>
            </a:r>
          </a:p>
        </p:txBody>
      </p:sp>
      <p:pic>
        <p:nvPicPr>
          <p:cNvPr id="4" name="Picture 3">
            <a:extLst>
              <a:ext uri="{FF2B5EF4-FFF2-40B4-BE49-F238E27FC236}">
                <a16:creationId xmlns:a16="http://schemas.microsoft.com/office/drawing/2014/main" id="{17FF2811-99FA-612E-FE71-911A63681D27}"/>
              </a:ext>
            </a:extLst>
          </p:cNvPr>
          <p:cNvPicPr>
            <a:picLocks noChangeAspect="1"/>
          </p:cNvPicPr>
          <p:nvPr/>
        </p:nvPicPr>
        <p:blipFill>
          <a:blip r:embed="rId3"/>
          <a:stretch>
            <a:fillRect/>
          </a:stretch>
        </p:blipFill>
        <p:spPr>
          <a:xfrm>
            <a:off x="0" y="895350"/>
            <a:ext cx="12192000" cy="5962650"/>
          </a:xfrm>
          <a:prstGeom prst="rect">
            <a:avLst/>
          </a:prstGeom>
        </p:spPr>
      </p:pic>
    </p:spTree>
    <p:extLst>
      <p:ext uri="{BB962C8B-B14F-4D97-AF65-F5344CB8AC3E}">
        <p14:creationId xmlns:p14="http://schemas.microsoft.com/office/powerpoint/2010/main" val="905527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65121D-D70E-4D80-ABB5-FD30002C4D1C}"/>
              </a:ext>
            </a:extLst>
          </p:cNvPr>
          <p:cNvSpPr txBox="1"/>
          <p:nvPr/>
        </p:nvSpPr>
        <p:spPr>
          <a:xfrm>
            <a:off x="576072" y="521208"/>
            <a:ext cx="7214616" cy="461665"/>
          </a:xfrm>
          <a:prstGeom prst="rect">
            <a:avLst/>
          </a:prstGeom>
          <a:noFill/>
        </p:spPr>
        <p:txBody>
          <a:bodyPr wrap="square" rtlCol="0">
            <a:spAutoFit/>
          </a:bodyPr>
          <a:lstStyle/>
          <a:p>
            <a:r>
              <a:rPr lang="en-US" sz="2400" b="1" dirty="0"/>
              <a:t>Result</a:t>
            </a:r>
          </a:p>
        </p:txBody>
      </p:sp>
      <p:pic>
        <p:nvPicPr>
          <p:cNvPr id="2" name="Picture 1">
            <a:extLst>
              <a:ext uri="{FF2B5EF4-FFF2-40B4-BE49-F238E27FC236}">
                <a16:creationId xmlns:a16="http://schemas.microsoft.com/office/drawing/2014/main" id="{F00A1099-711B-CE8A-6AC0-833D5F2AC875}"/>
              </a:ext>
            </a:extLst>
          </p:cNvPr>
          <p:cNvPicPr>
            <a:picLocks noChangeAspect="1"/>
          </p:cNvPicPr>
          <p:nvPr/>
        </p:nvPicPr>
        <p:blipFill>
          <a:blip r:embed="rId3"/>
          <a:stretch>
            <a:fillRect/>
          </a:stretch>
        </p:blipFill>
        <p:spPr>
          <a:xfrm>
            <a:off x="0" y="908050"/>
            <a:ext cx="12192000" cy="5949950"/>
          </a:xfrm>
          <a:prstGeom prst="rect">
            <a:avLst/>
          </a:prstGeom>
        </p:spPr>
      </p:pic>
    </p:spTree>
    <p:extLst>
      <p:ext uri="{BB962C8B-B14F-4D97-AF65-F5344CB8AC3E}">
        <p14:creationId xmlns:p14="http://schemas.microsoft.com/office/powerpoint/2010/main" val="3965168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endParaRPr lang="en-US" sz="2400" b="1" dirty="0">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Content Placeholder 2">
            <a:extLst>
              <a:ext uri="{FF2B5EF4-FFF2-40B4-BE49-F238E27FC236}">
                <a16:creationId xmlns:a16="http://schemas.microsoft.com/office/drawing/2014/main" id="{935B0924-99A1-9978-41FC-5F67DDF14BD9}"/>
              </a:ext>
            </a:extLst>
          </p:cNvPr>
          <p:cNvSpPr txBox="1">
            <a:spLocks/>
          </p:cNvSpPr>
          <p:nvPr/>
        </p:nvSpPr>
        <p:spPr>
          <a:xfrm>
            <a:off x="643449" y="1301367"/>
            <a:ext cx="10597622" cy="5473165"/>
          </a:xfr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600" dirty="0">
                <a:latin typeface="+mj-lt"/>
              </a:rPr>
              <a:t>The </a:t>
            </a:r>
            <a:r>
              <a:rPr lang="en-US" sz="1600" b="1" dirty="0" err="1">
                <a:latin typeface="+mj-lt"/>
              </a:rPr>
              <a:t>HealthSense</a:t>
            </a:r>
            <a:r>
              <a:rPr lang="en-US" sz="1600" b="1" dirty="0">
                <a:latin typeface="+mj-lt"/>
              </a:rPr>
              <a:t> AI &amp; Smart Doctor Recommendation System </a:t>
            </a:r>
            <a:r>
              <a:rPr lang="en-US" sz="1600" dirty="0">
                <a:latin typeface="+mj-lt"/>
              </a:rPr>
              <a:t>successfully integrates Artificial Intelligence and </a:t>
            </a:r>
            <a:r>
              <a:rPr lang="en-US" sz="1600" b="1" dirty="0">
                <a:latin typeface="+mj-lt"/>
              </a:rPr>
              <a:t>n8n workflow automation</a:t>
            </a:r>
            <a:r>
              <a:rPr lang="en-US" sz="1600" dirty="0">
                <a:latin typeface="+mj-lt"/>
              </a:rPr>
              <a:t> to provide an efficient and user-friendly healthcare solution. The system enables disease image analysis, medical report interpretation, symptom assessment, smart doctor recommendations, appointment booking, and chatbot assistance through a single platform. By automating healthcare processes and providing quick preliminary health insights, the project improves accessibility, enhances user experience.</a:t>
            </a:r>
            <a:endParaRPr lang="en-US" sz="1600" b="1" dirty="0">
              <a:latin typeface="+mj-lt"/>
            </a:endParaRPr>
          </a:p>
          <a:p>
            <a:pPr marL="0" indent="0" algn="just">
              <a:lnSpc>
                <a:spcPct val="150000"/>
              </a:lnSpc>
              <a:buFont typeface="Arial" panose="020B0604020202020204" pitchFamily="34" charset="0"/>
              <a:buNone/>
            </a:pPr>
            <a:r>
              <a:rPr lang="en-US" sz="1600" b="1" dirty="0">
                <a:latin typeface="+mj-lt"/>
              </a:rPr>
              <a:t>Key Achievements</a:t>
            </a:r>
          </a:p>
          <a:p>
            <a:pPr algn="just">
              <a:lnSpc>
                <a:spcPct val="100000"/>
              </a:lnSpc>
            </a:pPr>
            <a:r>
              <a:rPr lang="en-US" sz="1600" dirty="0">
                <a:latin typeface="+mj-lt"/>
              </a:rPr>
              <a:t>AI-powered health analysis.</a:t>
            </a:r>
          </a:p>
          <a:p>
            <a:pPr algn="just">
              <a:lnSpc>
                <a:spcPct val="100000"/>
              </a:lnSpc>
            </a:pPr>
            <a:r>
              <a:rPr lang="en-US" sz="1600" dirty="0">
                <a:latin typeface="+mj-lt"/>
              </a:rPr>
              <a:t>Automated workflows using n8n.Smart doctor recommendation.</a:t>
            </a:r>
          </a:p>
          <a:p>
            <a:pPr algn="just">
              <a:lnSpc>
                <a:spcPct val="100000"/>
              </a:lnSpc>
            </a:pPr>
            <a:r>
              <a:rPr lang="en-US" sz="1600" dirty="0">
                <a:latin typeface="+mj-lt"/>
              </a:rPr>
              <a:t>Seamless appointment booking.</a:t>
            </a:r>
          </a:p>
          <a:p>
            <a:pPr algn="just">
              <a:lnSpc>
                <a:spcPct val="100000"/>
              </a:lnSpc>
            </a:pPr>
            <a:r>
              <a:rPr lang="en-US" sz="1600" dirty="0">
                <a:latin typeface="+mj-lt"/>
              </a:rPr>
              <a:t>Improved healthcare accessibility and efficiency.</a:t>
            </a:r>
          </a:p>
        </p:txBody>
      </p:sp>
      <p:sp>
        <p:nvSpPr>
          <p:cNvPr id="4" name="TextBox 3">
            <a:extLst>
              <a:ext uri="{FF2B5EF4-FFF2-40B4-BE49-F238E27FC236}">
                <a16:creationId xmlns:a16="http://schemas.microsoft.com/office/drawing/2014/main" id="{D1817F54-35AF-922F-DEFA-88A5119ACEC8}"/>
              </a:ext>
            </a:extLst>
          </p:cNvPr>
          <p:cNvSpPr txBox="1"/>
          <p:nvPr/>
        </p:nvSpPr>
        <p:spPr>
          <a:xfrm>
            <a:off x="576072" y="704088"/>
            <a:ext cx="7214616" cy="597279"/>
          </a:xfrm>
          <a:prstGeom prst="rect">
            <a:avLst/>
          </a:prstGeom>
          <a:noFill/>
        </p:spPr>
        <p:txBody>
          <a:bodyPr wrap="square" rtlCol="0">
            <a:sp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Conclusion</a:t>
            </a:r>
          </a:p>
        </p:txBody>
      </p:sp>
    </p:spTree>
    <p:extLst>
      <p:ext uri="{BB962C8B-B14F-4D97-AF65-F5344CB8AC3E}">
        <p14:creationId xmlns:p14="http://schemas.microsoft.com/office/powerpoint/2010/main" val="856945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endParaRPr sz="2400" b="1" dirty="0">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Content Placeholder 2">
            <a:extLst>
              <a:ext uri="{FF2B5EF4-FFF2-40B4-BE49-F238E27FC236}">
                <a16:creationId xmlns:a16="http://schemas.microsoft.com/office/drawing/2014/main" id="{FD8B3C60-8710-59AE-7AAC-B38A6901131F}"/>
              </a:ext>
            </a:extLst>
          </p:cNvPr>
          <p:cNvSpPr txBox="1">
            <a:spLocks/>
          </p:cNvSpPr>
          <p:nvPr/>
        </p:nvSpPr>
        <p:spPr>
          <a:xfrm>
            <a:off x="671244" y="1216393"/>
            <a:ext cx="10597622" cy="5473165"/>
          </a:xfr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1600" b="1" dirty="0">
                <a:latin typeface="+mj-lt"/>
              </a:rPr>
              <a:t>Future Enhancements</a:t>
            </a:r>
          </a:p>
          <a:p>
            <a:pPr>
              <a:buFont typeface="Arial" panose="020B0604020202020204" pitchFamily="34" charset="0"/>
              <a:buChar char="•"/>
            </a:pPr>
            <a:r>
              <a:rPr lang="en-US" sz="1600" dirty="0">
                <a:latin typeface="+mj-lt"/>
              </a:rPr>
              <a:t>Develop </a:t>
            </a:r>
            <a:r>
              <a:rPr lang="en-US" sz="1600" b="1" dirty="0">
                <a:latin typeface="+mj-lt"/>
              </a:rPr>
              <a:t>Android and iOS mobile applications</a:t>
            </a:r>
            <a:r>
              <a:rPr lang="en-US" sz="1600" dirty="0">
                <a:latin typeface="+mj-lt"/>
              </a:rPr>
              <a:t> for better accessibility. </a:t>
            </a:r>
          </a:p>
          <a:p>
            <a:pPr>
              <a:buFont typeface="Arial" panose="020B0604020202020204" pitchFamily="34" charset="0"/>
              <a:buChar char="•"/>
            </a:pPr>
            <a:r>
              <a:rPr lang="en-US" sz="1600" dirty="0">
                <a:latin typeface="+mj-lt"/>
              </a:rPr>
              <a:t>Integrate </a:t>
            </a:r>
            <a:r>
              <a:rPr lang="en-US" sz="1600" b="1" dirty="0">
                <a:latin typeface="+mj-lt"/>
              </a:rPr>
              <a:t>real-time wearable device data</a:t>
            </a:r>
            <a:r>
              <a:rPr lang="en-US" sz="1600" dirty="0">
                <a:latin typeface="+mj-lt"/>
              </a:rPr>
              <a:t> for continuous health monitoring. </a:t>
            </a:r>
          </a:p>
          <a:p>
            <a:pPr>
              <a:buFont typeface="Arial" panose="020B0604020202020204" pitchFamily="34" charset="0"/>
              <a:buChar char="•"/>
            </a:pPr>
            <a:r>
              <a:rPr lang="en-US" sz="1600" dirty="0">
                <a:latin typeface="+mj-lt"/>
              </a:rPr>
              <a:t>Support </a:t>
            </a:r>
            <a:r>
              <a:rPr lang="en-US" sz="1600" b="1" dirty="0">
                <a:latin typeface="+mj-lt"/>
              </a:rPr>
              <a:t>video consultations and telemedicine</a:t>
            </a:r>
            <a:r>
              <a:rPr lang="en-US" sz="1600" dirty="0">
                <a:latin typeface="+mj-lt"/>
              </a:rPr>
              <a:t> with healthcare professionals. </a:t>
            </a:r>
          </a:p>
          <a:p>
            <a:pPr>
              <a:buFont typeface="Arial" panose="020B0604020202020204" pitchFamily="34" charset="0"/>
              <a:buChar char="•"/>
            </a:pPr>
            <a:r>
              <a:rPr lang="en-US" sz="1600" dirty="0">
                <a:latin typeface="+mj-lt"/>
              </a:rPr>
              <a:t>Add </a:t>
            </a:r>
            <a:r>
              <a:rPr lang="en-US" sz="1600" b="1" dirty="0">
                <a:latin typeface="+mj-lt"/>
              </a:rPr>
              <a:t>multi-language support</a:t>
            </a:r>
            <a:r>
              <a:rPr lang="en-US" sz="1600" dirty="0">
                <a:latin typeface="+mj-lt"/>
              </a:rPr>
              <a:t> to serve users from different regions. </a:t>
            </a:r>
          </a:p>
          <a:p>
            <a:pPr>
              <a:buFont typeface="Arial" panose="020B0604020202020204" pitchFamily="34" charset="0"/>
              <a:buChar char="•"/>
            </a:pPr>
            <a:r>
              <a:rPr lang="en-US" sz="1600" dirty="0">
                <a:latin typeface="+mj-lt"/>
              </a:rPr>
              <a:t>Integrate with </a:t>
            </a:r>
            <a:r>
              <a:rPr lang="en-US" sz="1600" b="1" dirty="0">
                <a:latin typeface="+mj-lt"/>
              </a:rPr>
              <a:t>Electronic Health Records (EHR)</a:t>
            </a:r>
            <a:r>
              <a:rPr lang="en-US" sz="1600" dirty="0">
                <a:latin typeface="+mj-lt"/>
              </a:rPr>
              <a:t> for comprehensive patient history. </a:t>
            </a:r>
          </a:p>
          <a:p>
            <a:pPr>
              <a:buFont typeface="Arial" panose="020B0604020202020204" pitchFamily="34" charset="0"/>
              <a:buChar char="•"/>
            </a:pPr>
            <a:r>
              <a:rPr lang="en-US" sz="1600" dirty="0">
                <a:latin typeface="+mj-lt"/>
              </a:rPr>
              <a:t>Enhance AI models with </a:t>
            </a:r>
            <a:r>
              <a:rPr lang="en-US" sz="1600" b="1" dirty="0">
                <a:latin typeface="+mj-lt"/>
              </a:rPr>
              <a:t>larger medical datasets</a:t>
            </a:r>
            <a:r>
              <a:rPr lang="en-US" sz="1600" dirty="0">
                <a:latin typeface="+mj-lt"/>
              </a:rPr>
              <a:t> to improve prediction accuracy. </a:t>
            </a:r>
          </a:p>
          <a:p>
            <a:pPr>
              <a:buFont typeface="Arial" panose="020B0604020202020204" pitchFamily="34" charset="0"/>
              <a:buChar char="•"/>
            </a:pPr>
            <a:r>
              <a:rPr lang="en-US" sz="1600" dirty="0">
                <a:latin typeface="+mj-lt"/>
              </a:rPr>
              <a:t>Implement </a:t>
            </a:r>
            <a:r>
              <a:rPr lang="en-US" sz="1600" b="1" dirty="0">
                <a:latin typeface="+mj-lt"/>
              </a:rPr>
              <a:t>secure cloud storage</a:t>
            </a:r>
            <a:r>
              <a:rPr lang="en-US" sz="1600" dirty="0">
                <a:latin typeface="+mj-lt"/>
              </a:rPr>
              <a:t> and advanced data privacy features. </a:t>
            </a:r>
          </a:p>
          <a:p>
            <a:pPr>
              <a:buFont typeface="Arial" panose="020B0604020202020204" pitchFamily="34" charset="0"/>
              <a:buChar char="•"/>
            </a:pPr>
            <a:r>
              <a:rPr lang="en-US" sz="1600" dirty="0">
                <a:latin typeface="+mj-lt"/>
              </a:rPr>
              <a:t>Enable </a:t>
            </a:r>
            <a:r>
              <a:rPr lang="en-US" sz="1600" b="1" dirty="0">
                <a:latin typeface="+mj-lt"/>
              </a:rPr>
              <a:t>real-time hospital and pharmacy integration</a:t>
            </a:r>
            <a:r>
              <a:rPr lang="en-US" sz="1600" dirty="0">
                <a:latin typeface="+mj-lt"/>
              </a:rPr>
              <a:t> for appointments and medicine availability.</a:t>
            </a:r>
          </a:p>
        </p:txBody>
      </p:sp>
      <p:sp>
        <p:nvSpPr>
          <p:cNvPr id="8" name="TextBox 7">
            <a:extLst>
              <a:ext uri="{FF2B5EF4-FFF2-40B4-BE49-F238E27FC236}">
                <a16:creationId xmlns:a16="http://schemas.microsoft.com/office/drawing/2014/main" id="{81C82F28-04A4-3639-7E2A-B726780221BA}"/>
              </a:ext>
            </a:extLst>
          </p:cNvPr>
          <p:cNvSpPr txBox="1"/>
          <p:nvPr/>
        </p:nvSpPr>
        <p:spPr>
          <a:xfrm>
            <a:off x="576072" y="704088"/>
            <a:ext cx="7214616" cy="597279"/>
          </a:xfrm>
          <a:prstGeom prst="rect">
            <a:avLst/>
          </a:prstGeom>
          <a:noFill/>
        </p:spPr>
        <p:txBody>
          <a:bodyPr wrap="square" rtlCol="0">
            <a:sp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p>
        </p:txBody>
      </p:sp>
    </p:spTree>
    <p:extLst>
      <p:ext uri="{BB962C8B-B14F-4D97-AF65-F5344CB8AC3E}">
        <p14:creationId xmlns:p14="http://schemas.microsoft.com/office/powerpoint/2010/main" val="2136706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B63F033C-CD7B-820A-A578-B4C10CCAC6D6}"/>
              </a:ext>
            </a:extLst>
          </p:cNvPr>
          <p:cNvPicPr>
            <a:picLocks noChangeAspect="1"/>
          </p:cNvPicPr>
          <p:nvPr/>
        </p:nvPicPr>
        <p:blipFill>
          <a:blip r:embed="rId2"/>
          <a:stretch>
            <a:fillRect/>
          </a:stretch>
        </p:blipFill>
        <p:spPr>
          <a:xfrm>
            <a:off x="2184934" y="683013"/>
            <a:ext cx="8047283" cy="609027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6A5EE2ED-8A43-D36A-E214-71C556EE830A}"/>
              </a:ext>
            </a:extLst>
          </p:cNvPr>
          <p:cNvPicPr>
            <a:picLocks noChangeAspect="1"/>
          </p:cNvPicPr>
          <p:nvPr/>
        </p:nvPicPr>
        <p:blipFill>
          <a:blip r:embed="rId2"/>
          <a:stretch>
            <a:fillRect/>
          </a:stretch>
        </p:blipFill>
        <p:spPr>
          <a:xfrm>
            <a:off x="1049154" y="740287"/>
            <a:ext cx="10234908" cy="611771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615</Words>
  <Application>Microsoft Office PowerPoint</Application>
  <PresentationFormat>Widescreen</PresentationFormat>
  <Paragraphs>84</Paragraphs>
  <Slides>23</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Franklin Gothic Book</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PC</cp:lastModifiedBy>
  <cp:revision>12</cp:revision>
  <dcterms:created xsi:type="dcterms:W3CDTF">2025-07-08T05:06:56Z</dcterms:created>
  <dcterms:modified xsi:type="dcterms:W3CDTF">2026-09-14T08:57:38Z</dcterms:modified>
</cp:coreProperties>
</file>